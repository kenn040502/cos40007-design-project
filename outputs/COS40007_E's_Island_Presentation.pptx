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COS40007  ·  AI for Engineering  ·  Design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Smart Government: Forecasting Inflation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Clustering Malaysian States from Open DOSM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Calibri"/>
              </a:rPr>
              <a:t>Theme 3 — A reproducible AI pipeline + interactive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Team E's Island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Kenneth Hui Hong CHUA   ·   102782494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69079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Kelvin Wen Kiong FONG   ·   102782287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Nigel Zi Jun LING   ·   102779140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59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Neng Yi CHIENG   ·   104386364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179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Data: Department of Statistics Malaysia (OpenDOSM)  ·  CC BY 4.0  ·  Random seed = 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Why apply AI to Malaysian public-sector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• National averages hide regional variation. </a:t>
            </a:r>
            <a:r>
              <a:rPr sz="1500">
                <a:solidFill>
                  <a:srgbClr val="222222"/>
                </a:solidFill>
              </a:rPr>
              <a:t>Aggregate CPI inflation hides large differences between states in income level and inflation exposure.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• Policymakers need short-term inflation forecasts </a:t>
            </a:r>
            <a:r>
              <a:rPr sz="1500">
                <a:solidFill>
                  <a:srgbClr val="222222"/>
                </a:solidFill>
              </a:rPr>
              <a:t>to design subsidies, monetary policy, and social-protection schemes.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• Clustering reveals economic peer groups </a:t>
            </a:r>
            <a:r>
              <a:rPr sz="1500">
                <a:solidFill>
                  <a:srgbClr val="222222"/>
                </a:solidFill>
              </a:rPr>
              <a:t>of states — useful for targeted regional policy rather than uniform national instruments.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• Fuel prices are a known driver of CPI inflation </a:t>
            </a:r>
            <a:r>
              <a:rPr sz="1500">
                <a:solidFill>
                  <a:srgbClr val="222222"/>
                </a:solidFill>
              </a:rPr>
              <a:t>in Malaysia; quantifying the pass-through helps the government model subsidy policy.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• Open DOSM data is rich but underused. </a:t>
            </a:r>
            <a:r>
              <a:rPr sz="1500">
                <a:solidFill>
                  <a:srgbClr val="222222"/>
                </a:solidFill>
              </a:rPr>
              <a:t>An AI pipeline + dashboard makes the insight accessible to non-technical stakeholders.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Research question: Can ARIMA reliably forecast national CPI inflation, and do Malaysia's 16 states form interpretable economic clusters from CPI + income features?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COS40007 Design Project  ·  Team E's Island  ·  Smart Government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Project Objectives &amp;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Five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Forecast national CPI inflation (ARIMA, 24-month horizon).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Cluster the 16 states by CPI + income features.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Quantify fuel-price → CPI pass-through.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Validate every output against DOSM official figures.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Deliver a reproducible pipeline + Flask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0058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Headline 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63040"/>
            <a:ext cx="2377440" cy="10972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600" b="1">
                <a:solidFill>
                  <a:srgbClr val="1F4E79"/>
                </a:solidFill>
              </a:rPr>
              <a:t>2.35</a:t>
            </a:r>
          </a:p>
          <a:p>
            <a:pPr algn="ctr"/>
            <a:r>
              <a:rPr sz="1100">
                <a:solidFill>
                  <a:srgbClr val="666666"/>
                </a:solidFill>
              </a:rPr>
              <a:t>Test MASE (ARIMA)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463040"/>
            <a:ext cx="2377440" cy="10972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600" b="1">
                <a:solidFill>
                  <a:srgbClr val="1F4E79"/>
                </a:solidFill>
              </a:rPr>
              <a:t>1.0699</a:t>
            </a:r>
          </a:p>
          <a:p>
            <a:pPr algn="ctr"/>
            <a:r>
              <a:rPr sz="1100">
                <a:solidFill>
                  <a:srgbClr val="666666"/>
                </a:solidFill>
              </a:rPr>
              <a:t>Test RMSE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743200"/>
            <a:ext cx="2377440" cy="10972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600" b="1">
                <a:solidFill>
                  <a:srgbClr val="1F4E79"/>
                </a:solidFill>
              </a:rPr>
              <a:t>2</a:t>
            </a:r>
          </a:p>
          <a:p>
            <a:pPr algn="ctr"/>
            <a:r>
              <a:rPr sz="1100">
                <a:solidFill>
                  <a:srgbClr val="666666"/>
                </a:solidFill>
              </a:rPr>
              <a:t>Optimal k (clustering)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743200"/>
            <a:ext cx="2377440" cy="10972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600" b="1">
                <a:solidFill>
                  <a:srgbClr val="1F4E79"/>
                </a:solidFill>
              </a:rPr>
              <a:t>0.5764</a:t>
            </a:r>
          </a:p>
          <a:p>
            <a:pPr algn="ctr"/>
            <a:r>
              <a:rPr sz="1100">
                <a:solidFill>
                  <a:srgbClr val="666666"/>
                </a:solidFill>
              </a:rPr>
              <a:t>K-Means silhouette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4023360"/>
            <a:ext cx="2377440" cy="10972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600" b="1">
                <a:solidFill>
                  <a:srgbClr val="1F4E79"/>
                </a:solidFill>
              </a:rPr>
              <a:t>2.10–2.85%</a:t>
            </a:r>
          </a:p>
          <a:p>
            <a:pPr algn="ctr"/>
            <a:r>
              <a:rPr sz="1100">
                <a:solidFill>
                  <a:srgbClr val="666666"/>
                </a:solidFill>
              </a:rPr>
              <a:t>Forecast range (24 mo)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4023360"/>
            <a:ext cx="2377440" cy="10972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600" b="1">
                <a:solidFill>
                  <a:srgbClr val="1F4E79"/>
                </a:solidFill>
              </a:rPr>
              <a:t>4 DOSM tables</a:t>
            </a:r>
          </a:p>
          <a:p>
            <a:pPr algn="ctr"/>
            <a:r>
              <a:rPr sz="1100">
                <a:solidFill>
                  <a:srgbClr val="666666"/>
                </a:solidFill>
              </a:rPr>
              <a:t>Datasets processed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COS40007 Design Project  ·  Team E's Island  ·  Smart Government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Rubric 1: Data (10)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All datasets from DOSM / OpenDOSM, CC BY 4.0, fetched programmatically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377440"/>
                <a:gridCol w="393192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Catalogue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Records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CPI Inflation by Division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cpi_2d_inflation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National, Jan 1981–Apr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7,770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CPI Index by State &amp; Division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cpi_2d_state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16 states, 2010–Apr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43,904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Retail Fuel Prices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fuelprice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Weekly 2017–2026 → monthly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Household Income by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hh_income_state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16 states, 1970–2022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Why these 4?  Longitudinal (forecasting) + cross-sectional (clustering) + driver (fuel)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• Time-series target: </a:t>
            </a:r>
            <a:r>
              <a:rPr sz="1400">
                <a:solidFill>
                  <a:srgbClr val="222222"/>
                </a:solidFill>
              </a:rPr>
              <a:t>monthly national CPI YoY inflation (1 series, 544 obs).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• Cross-sectional features: </a:t>
            </a:r>
            <a:r>
              <a:rPr sz="1400">
                <a:solidFill>
                  <a:srgbClr val="222222"/>
                </a:solidFill>
              </a:rPr>
              <a:t>5 features × 16 states for clustering.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• Driver variable: </a:t>
            </a:r>
            <a:r>
              <a:rPr sz="1400">
                <a:solidFill>
                  <a:srgbClr val="222222"/>
                </a:solidFill>
              </a:rPr>
              <a:t>monthly average retail fuel price (RON95/97/diesel).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• Validation source: </a:t>
            </a:r>
            <a:r>
              <a:rPr sz="1400">
                <a:solidFill>
                  <a:srgbClr val="222222"/>
                </a:solidFill>
              </a:rPr>
              <a:t>DOSM official 2022 HIES releases for ground truth checking.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COS40007 Design Project  ·  Team E's Island  ·  Smart Government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Preprocessing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Rubric 1: Data (10)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src/preprocessing.py  ·  deterministic, fully scripted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Cleaning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Type coercion: </a:t>
            </a:r>
            <a:r>
              <a:rPr sz="1300">
                <a:solidFill>
                  <a:srgbClr val="222222"/>
                </a:solidFill>
              </a:rPr>
              <a:t>all numerics via errors='coerce', no silent failures.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Date parsing: </a:t>
            </a:r>
            <a:r>
              <a:rPr sz="1300">
                <a:solidFill>
                  <a:srgbClr val="222222"/>
                </a:solidFill>
              </a:rPr>
              <a:t>to datetime; resample fuel weekly → monthly (MS).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Missing values: </a:t>
            </a:r>
            <a:r>
              <a:rPr sz="1300">
                <a:solidFill>
                  <a:srgbClr val="222222"/>
                </a:solidFill>
              </a:rPr>
              <a:t>drop rows missing core fields; all 16 states retained.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Outlier check: </a:t>
            </a:r>
            <a:r>
              <a:rPr sz="1300">
                <a:solidFill>
                  <a:srgbClr val="222222"/>
                </a:solidFill>
              </a:rPr>
              <a:t>ADF stationarity test on CPI series before differencing.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Reshape: </a:t>
            </a:r>
            <a:r>
              <a:rPr sz="1300">
                <a:solidFill>
                  <a:srgbClr val="222222"/>
                </a:solidFill>
              </a:rPr>
              <a:t>extract 'overall' division from 14-division CPI table → 544 rows.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Engineered features (per state)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554480"/>
          <a:ext cx="5303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828800"/>
              </a:tblGrid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mean_cpi_index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index pts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cpi_growth_rate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cpi_volatility (std)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index pts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income_mean_latest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income_median_latest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4114800"/>
            <a:ext cx="54864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All 5 features z-score standardised (StandardScaler) before clustering — stops income (thousands of RM) dominating the Euclidean distance over CPI index variables.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COS40007 Design Project  ·  Team E's Island  ·  Smart Government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Time-Series Model — ARIMA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Rubric 2: Training (5)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Why ARIMA?  Univariate monthly data, interpretable, gives confidence intervals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• Hyper-parameter selection: </a:t>
            </a:r>
            <a:r>
              <a:rPr sz="1400">
                <a:solidFill>
                  <a:srgbClr val="222222"/>
                </a:solidFill>
              </a:rPr>
              <a:t>BIC grid search over p ∈ [0,4], q ∈ [0,4].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• Stationarity test: </a:t>
            </a:r>
            <a:r>
              <a:rPr sz="1400">
                <a:solidFill>
                  <a:srgbClr val="222222"/>
                </a:solidFill>
              </a:rPr>
              <a:t>ADF on training series → p = 0.0003 (stationary) → d = 0.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• Selected order: </a:t>
            </a:r>
            <a:r>
              <a:rPr sz="1400">
                <a:solidFill>
                  <a:srgbClr val="222222"/>
                </a:solidFill>
              </a:rPr>
              <a:t>ARIMA(4, 0, 4).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• Train / test split: </a:t>
            </a:r>
            <a:r>
              <a:rPr sz="1400">
                <a:solidFill>
                  <a:srgbClr val="222222"/>
                </a:solidFill>
              </a:rPr>
              <a:t>last 24 months held out for evaluation.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• Refit on full series </a:t>
            </a:r>
            <a:r>
              <a:rPr sz="1400">
                <a:solidFill>
                  <a:srgbClr val="222222"/>
                </a:solidFill>
              </a:rPr>
              <a:t>for 24-month out-of-sample forecast.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• Confidence intervals: </a:t>
            </a:r>
            <a:r>
              <a:rPr sz="1400">
                <a:solidFill>
                  <a:srgbClr val="222222"/>
                </a:solidFill>
              </a:rPr>
              <a:t>95% CI plotted alongside point forecast.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188720"/>
            <a:ext cx="2194560" cy="10058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600" b="1">
                <a:solidFill>
                  <a:srgbClr val="1F4E79"/>
                </a:solidFill>
              </a:rPr>
              <a:t>(4,0,4)</a:t>
            </a:r>
          </a:p>
          <a:p>
            <a:pPr algn="ctr"/>
            <a:r>
              <a:rPr sz="1100">
                <a:solidFill>
                  <a:srgbClr val="666666"/>
                </a:solidFill>
              </a:rPr>
              <a:t>ARIMA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188720"/>
            <a:ext cx="2194560" cy="10058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600" b="1">
                <a:solidFill>
                  <a:srgbClr val="1F4E79"/>
                </a:solidFill>
              </a:rPr>
              <a:t>926.15</a:t>
            </a:r>
          </a:p>
          <a:p>
            <a:pPr algn="ctr"/>
            <a:r>
              <a:rPr sz="1100">
                <a:solidFill>
                  <a:srgbClr val="666666"/>
                </a:solidFill>
              </a:rPr>
              <a:t>AIC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286000"/>
            <a:ext cx="2194560" cy="10058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600" b="1">
                <a:solidFill>
                  <a:srgbClr val="1F4E79"/>
                </a:solidFill>
              </a:rPr>
              <a:t>969.14</a:t>
            </a:r>
          </a:p>
          <a:p>
            <a:pPr algn="ctr"/>
            <a:r>
              <a:rPr sz="1100">
                <a:solidFill>
                  <a:srgbClr val="666666"/>
                </a:solidFill>
              </a:rPr>
              <a:t>BIC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2286000"/>
            <a:ext cx="2194560" cy="10058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600" b="1">
                <a:solidFill>
                  <a:srgbClr val="1F4E79"/>
                </a:solidFill>
              </a:rPr>
              <a:t>520</a:t>
            </a:r>
          </a:p>
          <a:p>
            <a:pPr algn="ctr"/>
            <a:r>
              <a:rPr sz="1100">
                <a:solidFill>
                  <a:srgbClr val="666666"/>
                </a:solidFill>
              </a:rPr>
              <a:t>Train obs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566160"/>
            <a:ext cx="45720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Justification: BIC penalises complexity more than AIC, yielding parsimonious models that generalise better on a moderately long monthly economic series. ARIMA is preferred over deep models here because the series is univariate and the goal is short-horizon forecasting with interpretable uncertainty.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COS40007 Design Project  ·  Team E's Island  ·  Smart Government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ARIMA Forecast —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Rubric 3 + 4: Generalisation + Metrics</a:t>
            </a:r>
          </a:p>
        </p:txBody>
      </p:sp>
      <p:pic>
        <p:nvPicPr>
          <p:cNvPr id="5" name="Picture 4" descr="ts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046720" cy="25122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3655229"/>
            <a:ext cx="8046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Train / test fit and 24-month forecast with 95% CI.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097280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Test-set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554480"/>
            <a:ext cx="1645920" cy="8686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600" b="1">
                <a:solidFill>
                  <a:srgbClr val="1F4E79"/>
                </a:solidFill>
              </a:rPr>
              <a:t>0.950</a:t>
            </a:r>
          </a:p>
          <a:p>
            <a:pPr algn="ctr"/>
            <a:r>
              <a:rPr sz="1100">
                <a:solidFill>
                  <a:srgbClr val="666666"/>
                </a:solidFill>
              </a:rPr>
              <a:t>MAE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554480"/>
            <a:ext cx="1645920" cy="8686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600" b="1">
                <a:solidFill>
                  <a:srgbClr val="1F4E79"/>
                </a:solidFill>
              </a:rPr>
              <a:t>1.070</a:t>
            </a:r>
          </a:p>
          <a:p>
            <a:pPr algn="ctr"/>
            <a:r>
              <a:rPr sz="1100">
                <a:solidFill>
                  <a:srgbClr val="666666"/>
                </a:solidFill>
              </a:rPr>
              <a:t>RMSE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514600"/>
            <a:ext cx="1645920" cy="8686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600" b="1">
                <a:solidFill>
                  <a:srgbClr val="1F4E79"/>
                </a:solidFill>
              </a:rPr>
              <a:t>2.35</a:t>
            </a:r>
          </a:p>
          <a:p>
            <a:pPr algn="ctr"/>
            <a:r>
              <a:rPr sz="1100">
                <a:solidFill>
                  <a:srgbClr val="666666"/>
                </a:solidFill>
              </a:rPr>
              <a:t>MASE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14600"/>
            <a:ext cx="1645920" cy="8686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2600" b="1">
                <a:solidFill>
                  <a:srgbClr val="1F4E79"/>
                </a:solidFill>
              </a:rPr>
              <a:t>0.341</a:t>
            </a:r>
          </a:p>
          <a:p>
            <a:pPr algn="ctr"/>
            <a:r>
              <a:rPr sz="1100">
                <a:solidFill>
                  <a:srgbClr val="666666"/>
                </a:solidFill>
              </a:rPr>
              <a:t>Naive 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566160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Forecast next 24 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931920"/>
            <a:ext cx="34747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Range: 2.10% – 2.85%
Mean: 2.58%
Direction: moderating from recent peak.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COS40007 Design Project  ·  Team E's Island  ·  Smart Government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Clustering — Selecting Optimal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Rubric 2: Training (5)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Three independent criteria, all agree</a:t>
            </a:r>
          </a:p>
        </p:txBody>
      </p:sp>
      <p:pic>
        <p:nvPicPr>
          <p:cNvPr id="6" name="Picture 5" descr="cluster_elbow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20766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18872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Elbow method:</a:t>
            </a:r>
            <a:r>
              <a:rPr sz="1300">
                <a:solidFill>
                  <a:srgbClr val="222222"/>
                </a:solidFill>
              </a:rPr>
              <a:t> clear bend at k = 2.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Silhouette:</a:t>
            </a:r>
            <a:r>
              <a:rPr sz="1300">
                <a:solidFill>
                  <a:srgbClr val="222222"/>
                </a:solidFill>
              </a:rPr>
              <a:t> peaks at 0.5764 for k = 2.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Davies-Bouldin:</a:t>
            </a:r>
            <a:r>
              <a:rPr sz="1300">
                <a:solidFill>
                  <a:srgbClr val="222222"/>
                </a:solidFill>
              </a:rPr>
              <a:t> minimised at 0.5953.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Why two algorithms?</a:t>
            </a:r>
            <a:r>
              <a:rPr sz="1300">
                <a:solidFill>
                  <a:srgbClr val="222222"/>
                </a:solidFill>
              </a:rPr>
              <a:t> independent confirmation.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K-Means:</a:t>
            </a:r>
            <a:r>
              <a:rPr sz="1300">
                <a:solidFill>
                  <a:srgbClr val="222222"/>
                </a:solidFill>
              </a:rPr>
              <a:t> minimises within-cluster variance.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Hierarchical (Ward):</a:t>
            </a:r>
            <a:r>
              <a:rPr sz="1300">
                <a:solidFill>
                  <a:srgbClr val="222222"/>
                </a:solidFill>
              </a:rPr>
              <a:t> bottom-up merging.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COS40007 Design Project  ·  Team E's Island  ·  Smart Government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Clustering — State Tiers in PCA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Rubric 3: Generalisation</a:t>
            </a:r>
          </a:p>
        </p:txBody>
      </p:sp>
      <p:pic>
        <p:nvPicPr>
          <p:cNvPr id="5" name="Picture 4" descr="cluster_pca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760720" cy="40184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069990"/>
            <a:ext cx="5760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K-Means: states grouped in PC1–PC2 space.</a:t>
            </a:r>
          </a:p>
        </p:txBody>
      </p:sp>
      <p:pic>
        <p:nvPicPr>
          <p:cNvPr id="7" name="Picture 6" descr="cluster_pca_hierarch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760720" cy="40184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069990"/>
            <a:ext cx="5760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Hierarchical (Ward): near-identical partition.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Both algorithms produce essentially the same partition at k = 2 — evidence that the cluster structure is genuine, not an algorithmic artefact.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COS40007 Design Project  ·  Team E's Island  ·  Smart Government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Cluster Profiles — Who's in each tier?</a:t>
            </a:r>
          </a:p>
        </p:txBody>
      </p:sp>
      <p:pic>
        <p:nvPicPr>
          <p:cNvPr id="4" name="Picture 3" descr="cluster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24352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09728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Cluster means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79" y="1554480"/>
          <a:ext cx="4389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"/>
                <a:gridCol w="128016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Cluster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States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Income (RM)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Low Income &amp; Low CPI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6,420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Mid-Low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11,163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3474720"/>
            <a:ext cx="4389120" cy="2560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Key insight: the higher-income tier (Selangor, Putrajaya, KL, Johor, Penang) also shows higher cumulative CPI growth — wealthier states have experienced more inflationary pressure since 2010.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COS40007 Design Project  ·  Team E's Island  ·  Smart Government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Fuel Price → CPI Pass-through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Rubric 4: Metrics (10)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Cross-domain evaluation</a:t>
            </a:r>
          </a:p>
        </p:txBody>
      </p:sp>
      <p:pic>
        <p:nvPicPr>
          <p:cNvPr id="6" name="Picture 5" descr="eval_fuel_cpi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229600" cy="29356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078619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OLS fit (left) and Pearson correlations contemporaneous + lag-1 (right).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1887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</a:rPr>
              <a:t>• Contemporaneous: </a:t>
            </a:r>
            <a:r>
              <a:rPr sz="1200">
                <a:solidFill>
                  <a:srgbClr val="222222"/>
                </a:solidFill>
              </a:rPr>
              <a:t>fuel ↑ CPI ↑ in same month.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</a:rPr>
              <a:t>• Lag-1 correlation: </a:t>
            </a:r>
            <a:r>
              <a:rPr sz="1200">
                <a:solidFill>
                  <a:srgbClr val="222222"/>
                </a:solidFill>
              </a:rPr>
              <a:t>fuel leads CPI by 1 month, slightly weaker.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</a:rPr>
              <a:t>• Interpretation: </a:t>
            </a:r>
            <a:r>
              <a:rPr sz="1200">
                <a:solidFill>
                  <a:srgbClr val="222222"/>
                </a:solidFill>
              </a:rPr>
              <a:t>rapid but not instantaneous pass-through.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</a:rPr>
              <a:t>• Why it matters: </a:t>
            </a:r>
            <a:r>
              <a:rPr sz="1200">
                <a:solidFill>
                  <a:srgbClr val="222222"/>
                </a:solidFill>
              </a:rPr>
              <a:t>evidence base for subsidy policy.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COS40007 Design Project  ·  Team E's Island  ·  Smart Government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Evaluation Summary — All metrics in one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Rubric 4: Metrics (10)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Forecasting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</a:tblGrid>
              <a:tr h="355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ARIMA order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(4,0,4)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0.9500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1.0699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sMAPE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46.06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MASE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2.35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Naive 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0.3410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926.15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BIC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969.14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Clustering Validity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554480"/>
          <a:ext cx="5212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05840"/>
                <a:gridCol w="1005840"/>
                <a:gridCol w="1005840"/>
              </a:tblGrid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Silhouette ↑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DB ↓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CH ↑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K-Means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0.5764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0.5953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32.6821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Hierarchical (Ward)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0.4457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0.7683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20.1203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6576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Validation against DOSM (sample)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4114800"/>
          <a:ext cx="53035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645920"/>
              </a:tblGrid>
              <a:tr h="5257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Indicator (2022)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This project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Official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Sabah mean income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RM 6,171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RM 6,171 (DOSM)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Selangor mean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RM 12,233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RM 12,233 (DOSM)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Highest-poverty state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Sabah 19.7%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Sabah 19.7% (DOSM)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COS40007 Design Project  ·  Team E's Island  ·  Smart Government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Cross-State CPI Growth (2010 → Latest)</a:t>
            </a:r>
          </a:p>
        </p:txBody>
      </p:sp>
      <p:pic>
        <p:nvPicPr>
          <p:cNvPr id="4" name="Picture 3" descr="eval_state_cpi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05840"/>
            <a:ext cx="7589520" cy="58824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6933971"/>
            <a:ext cx="7589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Red = above median growth, blue = below.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Selangor, Putrajaya and Johor lead CPI growth; East-Malaysia states (Sabah, Sarawak, Labuan) grew most slowly.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COS40007 Design Project  ·  Team E's Island  ·  Smart Government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Division Inflation Heatmap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Which CPI categories drove inflation, and when?</a:t>
            </a:r>
          </a:p>
        </p:txBody>
      </p:sp>
      <p:pic>
        <p:nvPicPr>
          <p:cNvPr id="5" name="Picture 4" descr="eval_divis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48449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COS40007 Design Project  ·  Team E's Island  ·  Smart Government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AI Demonstrator — Flask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Rubric 5: System (5)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http://localhost:5050  ·  4 tabs  ·  JSON 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Overview tab — </a:t>
            </a:r>
            <a:r>
              <a:rPr sz="1300">
                <a:solidFill>
                  <a:srgbClr val="222222"/>
                </a:solidFill>
              </a:rPr>
              <a:t>national + state CPI and income summary.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Time-Series tab — </a:t>
            </a:r>
            <a:r>
              <a:rPr sz="1300">
                <a:solidFill>
                  <a:srgbClr val="222222"/>
                </a:solidFill>
              </a:rPr>
              <a:t>live train/test/forecast chart with metrics.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Clustering tab — </a:t>
            </a:r>
            <a:r>
              <a:rPr sz="1300">
                <a:solidFill>
                  <a:srgbClr val="222222"/>
                </a:solidFill>
              </a:rPr>
              <a:t>PCA scatter, dendrogram, validity scores.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Fuel Analysis tab — </a:t>
            </a:r>
            <a:r>
              <a:rPr sz="1300">
                <a:solidFill>
                  <a:srgbClr val="222222"/>
                </a:solidFill>
              </a:rPr>
              <a:t>fuel vs CPI correlation explorer.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JSON API — </a:t>
            </a:r>
            <a:r>
              <a:rPr sz="1300">
                <a:solidFill>
                  <a:srgbClr val="222222"/>
                </a:solidFill>
              </a:rPr>
              <a:t>/api/overview, /api/ts/forecast, /api/cluster/states, /api/fuel/correlation.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Architecture — </a:t>
            </a:r>
            <a:r>
              <a:rPr sz="1300">
                <a:solidFill>
                  <a:srgbClr val="222222"/>
                </a:solidFill>
              </a:rPr>
              <a:t>pipeline pre-computes → Flask serves cached artefacts → fast UX.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Reproducible — </a:t>
            </a:r>
            <a:r>
              <a:rPr sz="1300">
                <a:solidFill>
                  <a:srgbClr val="222222"/>
                </a:solidFill>
              </a:rPr>
              <a:t>random_state = 42 across all components, byte-identical re-runs.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188720"/>
            <a:ext cx="4572000" cy="77724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Raw DOSM CSVs</a:t>
            </a:r>
          </a:p>
        </p:txBody>
      </p:sp>
      <p:sp>
        <p:nvSpPr>
          <p:cNvPr id="8" name="Down Arrow 7"/>
          <p:cNvSpPr/>
          <p:nvPr/>
        </p:nvSpPr>
        <p:spPr>
          <a:xfrm>
            <a:off x="8961120" y="1965960"/>
            <a:ext cx="365760" cy="182880"/>
          </a:xfrm>
          <a:prstGeom prst="downArrow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2148840"/>
            <a:ext cx="4572000" cy="777240"/>
          </a:xfrm>
          <a:prstGeom prst="round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src/preprocessing.py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961120" y="2926080"/>
            <a:ext cx="365760" cy="182880"/>
          </a:xfrm>
          <a:prstGeom prst="downArrow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0" y="3108960"/>
            <a:ext cx="4572000" cy="77724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ARIMA + Clustering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961120" y="3886200"/>
            <a:ext cx="365760" cy="182880"/>
          </a:xfrm>
          <a:prstGeom prst="downArrow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4069080"/>
            <a:ext cx="4572000" cy="777240"/>
          </a:xfrm>
          <a:prstGeom prst="round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outputs/ (JSON, CSV, PNG)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961120" y="4846320"/>
            <a:ext cx="365760" cy="182880"/>
          </a:xfrm>
          <a:prstGeom prst="downArrow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0" y="5029200"/>
            <a:ext cx="4572000" cy="777240"/>
          </a:xfrm>
          <a:prstGeom prst="roundRect">
            <a:avLst/>
          </a:prstGeom>
          <a:solidFill>
            <a:srgbClr val="D73527"/>
          </a:solidFill>
          <a:ln>
            <a:solidFill>
              <a:srgbClr val="D735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Flask Dashboard
localhost:5050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COS40007 Design Project  ·  Team E's Island  ·  Smart Government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Team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Every member touches the AI part — different model / dataset / pipeline component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Kenneth Hui Hong CHUA</a:t>
            </a:r>
          </a:p>
          <a:p>
            <a:r>
              <a:rPr sz="1100" i="1">
                <a:solidFill>
                  <a:srgbClr val="CCDDEE"/>
                </a:solidFill>
              </a:rPr>
              <a:t>Time-Series Modelling Lead (ARIMA)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280160"/>
            <a:ext cx="7498079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CPI dataset · ARIMA module · BIC order selection · ADF stationarity · MAE / RMSE / sMAPE / MASE evaluation.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3840480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Kelvin Wen Kiong FONG</a:t>
            </a:r>
          </a:p>
          <a:p>
            <a:r>
              <a:rPr sz="1100" i="1">
                <a:solidFill>
                  <a:srgbClr val="CCDDEE"/>
                </a:solidFill>
              </a:rPr>
              <a:t>Clustering AI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514600"/>
            <a:ext cx="7498079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State features · K-Means + Hierarchical (Ward) · silhouette / DB / CH validity · PCA visualisation.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840480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Nigel Zi Jun LING</a:t>
            </a:r>
          </a:p>
          <a:p>
            <a:r>
              <a:rPr sz="1100" i="1">
                <a:solidFill>
                  <a:srgbClr val="CCDDEE"/>
                </a:solidFill>
              </a:rPr>
              <a:t>Evaluation &amp;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749040"/>
            <a:ext cx="7498079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Fuel dataset · fuel→CPI pass-through correlation · division heatmap · DOSM validation.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92040"/>
            <a:ext cx="3840480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Neng Yi CHIENG</a:t>
            </a:r>
          </a:p>
          <a:p>
            <a:r>
              <a:rPr sz="1100" i="1">
                <a:solidFill>
                  <a:srgbClr val="CCDDEE"/>
                </a:solidFill>
              </a:rPr>
              <a:t>Time-Series Co-Lead + Pipeline / Demonstrator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983480"/>
            <a:ext cx="7498079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Forecast viz + 24-mo out-of-sample · CI extraction · reproducible pipeline · Flask dashboard + JSON API.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COS40007 Design Project  ·  Team E's Island  ·  Smart Government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73527"/>
                </a:solidFill>
                <a:latin typeface="Calibri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Long-horizon skill: </a:t>
            </a:r>
            <a:r>
              <a:rPr sz="1300">
                <a:solidFill>
                  <a:srgbClr val="222222"/>
                </a:solidFill>
              </a:rPr>
              <a:t>MASE = 2.35 (&gt;1) — over a 24-month block the stationary model does not beat a naive baseline (reported honestly).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Fuel adds no forecast gain: </a:t>
            </a:r>
            <a:r>
              <a:rPr sz="1300">
                <a:solidFill>
                  <a:srgbClr val="222222"/>
                </a:solidFill>
              </a:rPr>
              <a:t>fuel correlates with inflation but, as an ARIMAX regressor, did not lower test error in this specification.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Small cross-section: </a:t>
            </a:r>
            <a:r>
              <a:rPr sz="1300">
                <a:solidFill>
                  <a:srgbClr val="222222"/>
                </a:solidFill>
              </a:rPr>
              <a:t>16 states limits the number of well-separated clusters.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Income survey infrequency: </a:t>
            </a:r>
            <a:r>
              <a:rPr sz="1300">
                <a:solidFill>
                  <a:srgbClr val="222222"/>
                </a:solidFill>
              </a:rPr>
              <a:t>income features use the latest available year (≈2022) only.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Aggregate CPI: </a:t>
            </a:r>
            <a:r>
              <a:rPr sz="1300">
                <a:solidFill>
                  <a:srgbClr val="222222"/>
                </a:solidFill>
              </a:rPr>
              <a:t>national series masks division-level variation already shown.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Rolling one-step evaluation: </a:t>
            </a:r>
            <a:r>
              <a:rPr sz="1300">
                <a:solidFill>
                  <a:srgbClr val="222222"/>
                </a:solidFill>
              </a:rPr>
              <a:t>the fair test of short-horizon skill, where ARIMA should beat naive.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LSTM / Prophet: </a:t>
            </a:r>
            <a:r>
              <a:rPr sz="1300">
                <a:solidFill>
                  <a:srgbClr val="222222"/>
                </a:solidFill>
              </a:rPr>
              <a:t>compare non-linear forecasters on the same hold-out.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Division-level ARIMA: </a:t>
            </a:r>
            <a:r>
              <a:rPr sz="1300">
                <a:solidFill>
                  <a:srgbClr val="222222"/>
                </a:solidFill>
              </a:rPr>
              <a:t>forecast each of the 13 CPI divisions separately.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District clustering: </a:t>
            </a:r>
            <a:r>
              <a:rPr sz="1300">
                <a:solidFill>
                  <a:srgbClr val="222222"/>
                </a:solidFill>
              </a:rPr>
              <a:t>extend from 16 states to 160 districts when data permits.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• Live dashboard: </a:t>
            </a:r>
            <a:r>
              <a:rPr sz="1300">
                <a:solidFill>
                  <a:srgbClr val="222222"/>
                </a:solidFill>
              </a:rPr>
              <a:t>auto-refresh from OpenDOSM API as new months are released.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COS40007 Design Project  ·  Team E's Island  ·  Smart Government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Conclusions  ·  Thank you  · 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• ARIMA gives a national CPI outlook </a:t>
            </a:r>
            <a:r>
              <a:rPr sz="1500">
                <a:solidFill>
                  <a:srgbClr val="222222"/>
                </a:solidFill>
              </a:rPr>
              <a:t>(2.1-2.9% over 24 months; RMSE 1.07), with a candid MASE = 2.35 showing long-horizon point accuracy is limited.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• Two-tier state structure (k = 2) </a:t>
            </a:r>
            <a:r>
              <a:rPr sz="1500">
                <a:solidFill>
                  <a:srgbClr val="222222"/>
                </a:solidFill>
              </a:rPr>
              <a:t>is robust across K-Means and Hierarchical clustering (silhouette 0.576).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• Fuel correlates with CPI </a:t>
            </a:r>
            <a:r>
              <a:rPr sz="1500">
                <a:solidFill>
                  <a:srgbClr val="222222"/>
                </a:solidFill>
              </a:rPr>
              <a:t>but did not improve the forecast (ARIMAX) — association ≠ predictive power.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• Reproducible pipeline + Flask dashboard </a:t>
            </a:r>
            <a:r>
              <a:rPr sz="1500">
                <a:solidFill>
                  <a:srgbClr val="222222"/>
                </a:solidFill>
              </a:rPr>
              <a:t>make the analysis usable by non-technical stakeholders.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• All results reconcile </a:t>
            </a:r>
            <a:r>
              <a:rPr sz="1500">
                <a:solidFill>
                  <a:srgbClr val="222222"/>
                </a:solidFill>
              </a:rPr>
              <a:t>with DOSM official 2022 published figures.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Thank you — Questions?</a:t>
            </a:r>
          </a:p>
          <a:p>
            <a:pPr algn="ctr"/>
            <a:r>
              <a:rPr sz="1400">
                <a:solidFill>
                  <a:srgbClr val="CCDDEE"/>
                </a:solidFill>
              </a:rPr>
              <a:t>Repo: github.com/kenn040502/COS40007-Design-Project   ·   Dashboard: localhost:5050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COS40007 Design Project  ·  Team E's Island  ·  Smart Government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